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Lato Light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LatoLight-bold.fntdata"/><Relationship Id="rId23" Type="http://schemas.openxmlformats.org/officeDocument/2006/relationships/font" Target="fonts/Lato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Light-boldItalic.fntdata"/><Relationship Id="rId25" Type="http://schemas.openxmlformats.org/officeDocument/2006/relationships/font" Target="fonts/LatoLight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Lato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db3ef937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db3ef937d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11" Type="http://schemas.openxmlformats.org/officeDocument/2006/relationships/image" Target="../media/image2.png"/><Relationship Id="rId10" Type="http://schemas.openxmlformats.org/officeDocument/2006/relationships/image" Target="../media/image16.png"/><Relationship Id="rId12" Type="http://schemas.openxmlformats.org/officeDocument/2006/relationships/image" Target="../media/image1.png"/><Relationship Id="rId9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32400" y="2157950"/>
            <a:ext cx="91272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Wind Turbines in the U.S. &amp; Market Leadership </a:t>
            </a:r>
            <a:endParaRPr b="1" sz="540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895600" y="3687960"/>
            <a:ext cx="64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95600" y="4141785"/>
            <a:ext cx="64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 Light"/>
                <a:ea typeface="Lato Light"/>
                <a:cs typeface="Lato Light"/>
                <a:sym typeface="Lato Light"/>
              </a:rPr>
              <a:t>A Data Driven Analysis of the US Wind Energy Fleet (1982 to 2021)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762000"/>
            <a:ext cx="11201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E5A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Evolution of Wind Power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62000" y="248126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Wind energy is one of the fastest growing sources of electricity in the United States. Over the past four decades wind turbines have been completely transformed.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3557164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This project explores how small experimental machines became massive utility scale structures powering entire cities.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14537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44815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65,322 turbines analyzed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47863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45 US states represented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091112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Data span from 1982 to 2021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434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8482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1530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095500" y="2149822"/>
            <a:ext cx="80010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Core Question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0" y="3435697"/>
            <a:ext cx="762000" cy="381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286000" y="3854797"/>
            <a:ext cx="76200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10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Which wind turbine manufacturer leads U.S. market installations, and does volume reflect performance?</a:t>
            </a:r>
            <a:endParaRPr sz="2100">
              <a:solidFill>
                <a:srgbClr val="4A4A4A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233487"/>
            <a:ext cx="33654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233487"/>
            <a:ext cx="33654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233487"/>
            <a:ext cx="3365599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062412"/>
            <a:ext cx="33654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4062412"/>
            <a:ext cx="3365599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252412"/>
            <a:ext cx="11201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E5A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Research Methodology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87902" y="2176462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Physical Growth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057275" y="2681287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Tracking capacity hub height and rotor diameter shifts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39102" y="2176462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Efficiency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708475" y="2681287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Measuring kW output per square meter of rotor area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290299" y="2176462"/>
            <a:ext cx="29138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Manufacturers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59675" y="2681287"/>
            <a:ext cx="277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Top 5 brands ranked by output 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87902" y="5005387"/>
            <a:ext cx="29136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Geography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57275" y="5510212"/>
            <a:ext cx="277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Identifying which </a:t>
            </a:r>
            <a:r>
              <a:rPr lang="en-US" sz="150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manufacturers</a:t>
            </a:r>
            <a:r>
              <a:rPr lang="en-US" sz="1500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dominate specific regions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290299" y="5005387"/>
            <a:ext cx="291380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Annual Production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359675" y="5510212"/>
            <a:ext cx="27750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Projected energy production per turbine by brand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54150" y="15668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29163" y="15668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32887" y="15668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54150" y="4395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56700" y="4395787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76200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E5A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Growth</a:t>
            </a:r>
            <a:r>
              <a:rPr lang="en-US" sz="3150">
                <a:solidFill>
                  <a:srgbClr val="2E5A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Over the decades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559117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Average capacity grew from 81 kW in 1982 to 2,943 kW in 2021 while hub heights reached 95 meters.</a:t>
            </a:r>
            <a:endParaRPr/>
          </a:p>
        </p:txBody>
      </p:sp>
      <p:pic>
        <p:nvPicPr>
          <p:cNvPr id="144" name="Google Shape;144;p17" title="graph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4375" y="1755574"/>
            <a:ext cx="9843249" cy="450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762000" y="76200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2E5A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Manufacturer Comparison</a:t>
            </a:r>
            <a:endParaRPr/>
          </a:p>
        </p:txBody>
      </p:sp>
      <p:pic>
        <p:nvPicPr>
          <p:cNvPr id="151" name="Google Shape;151;p18" title="graph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488" y="2104900"/>
            <a:ext cx="11601024" cy="33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762000" y="762000"/>
            <a:ext cx="11201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E5A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Regional Dominance</a:t>
            </a:r>
            <a:endParaRPr/>
          </a:p>
        </p:txBody>
      </p:sp>
      <p:pic>
        <p:nvPicPr>
          <p:cNvPr id="158" name="Google Shape;158;p19" title="graph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6537" y="1362075"/>
            <a:ext cx="5332326" cy="51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762000" y="762000"/>
            <a:ext cx="112014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E5A5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Recommendations</a:t>
            </a:r>
            <a:endParaRPr/>
          </a:p>
        </p:txBody>
      </p:sp>
      <p:pic>
        <p:nvPicPr>
          <p:cNvPr descr="image.png" id="165" name="Google Shape;1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1125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6381750" y="2605087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Nordex Top Performer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381750" y="30718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Nordex ranks #1 on capacity height and energy yield. Expected to produce 52% more energy than GE Wind units.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381750" y="3967162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Vestas Balanced Option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381750" y="44338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Vestas offers the best consistency with the second largest install base and a robust service network across the US.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137" y="4202310"/>
            <a:ext cx="54197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3250644" y="2084040"/>
            <a:ext cx="56907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6A085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3386137" y="3455640"/>
            <a:ext cx="54197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4A4A"/>
                </a:solidFill>
                <a:latin typeface="Lato"/>
                <a:ea typeface="Lato"/>
                <a:cs typeface="Lato"/>
                <a:sym typeface="Lato"/>
              </a:rPr>
              <a:t>Data Driven Insights into the Evolution of Wind Energy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